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4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Omnichannel Growth Engine — Hybrid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212121"/>
                </a:solidFill>
              </a:rPr>
              <a:t>Technical Walkthrough + Executive Playbook (康师傅 Singapore — Mock)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32720" y="182880"/>
            <a:ext cx="1645920" cy="7315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/>
              <a:t>LOGO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7132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Derrick Wong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NTUC LearningHub — Associate Data Analyst (Cohort 36, 2025)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12121"/>
                </a:solidFill>
              </a:rPr>
              <a:t>Prepared by Derrick Wong | Graduate NTUC LearningHub Associate Data Analyst Course (Cohort 36)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4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Problem Statement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82880"/>
            <a:ext cx="1645920" cy="7315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/>
              <a:t>LOGO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12121"/>
                </a:solidFill>
              </a:rPr>
              <a:t>Why this project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0642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Fragmented channel data → weak promo ROI, unclear demand signals.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Goal: unify data, analyse performance, forecast demand, and tell a story.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110642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12121"/>
                </a:solidFill>
              </a:rPr>
              <a:t>Objectives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1) Unified model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2) Channel/Territory/Product KPIs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3) Forecast &amp; Promo uplift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4) Power BI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12121"/>
                </a:solidFill>
              </a:rPr>
              <a:t>Prepared by Derrick Wong | Graduate NTUC LearningHub Associate Data Analyst Course (Cohort 36)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4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Data Sources &amp;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82880"/>
            <a:ext cx="1645920" cy="7315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/>
              <a:t>LOGO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12121"/>
                </a:solidFill>
              </a:rPr>
              <a:t>Star schema &amp; 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3035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12121"/>
                </a:solidFill>
              </a:rPr>
              <a:t>Datasets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Fact: cleaned_fmcg_omnichannel_sales.csv (6 months)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Dim: fmcg_sku_reference_clean.csv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Dim: fmcg_customer_repeat_summary_clean.csv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Joins on SKU_ID, Customer_ID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3017520"/>
          </a:xfrm>
          <a:prstGeom prst="rect">
            <a:avLst/>
          </a:prstGeom>
          <a:solidFill>
            <a:srgbClr val="FFFFFF"/>
          </a:solidFill>
          <a:ln>
            <a:solidFill>
              <a:srgbClr val="E4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787878"/>
                </a:solidFill>
              </a:rPr>
              <a:t>Insert Power BI Model view screenshot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12121"/>
                </a:solidFill>
              </a:rPr>
              <a:t>Prepared by Derrick Wong | Graduate NTUC LearningHub Associate Data Analyst Course (Cohort 36)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4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Data Cleaning — Python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82880"/>
            <a:ext cx="1645920" cy="7315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/>
              <a:t>LOGO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12121"/>
                </a:solidFill>
              </a:rPr>
              <a:t>Steps &amp; outputs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30352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12121"/>
                </a:solidFill>
              </a:rPr>
              <a:t>Process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Null handling; type fixes (dates, cats, numeric)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Normalize labels; de-dup; outliers (IQR/Z)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Logged steps &amp; shapes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Output → /clean/cleaned_fmcg_omnichannel_sales.csv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3017520"/>
          </a:xfrm>
          <a:prstGeom prst="rect">
            <a:avLst/>
          </a:prstGeom>
          <a:solidFill>
            <a:srgbClr val="FFFFFF"/>
          </a:solidFill>
          <a:ln>
            <a:solidFill>
              <a:srgbClr val="E4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787878"/>
                </a:solidFill>
              </a:rPr>
              <a:t>Insert 01_data_cleaning screenshot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12121"/>
                </a:solidFill>
              </a:rPr>
              <a:t>Prepared by Derrick Wong | Graduate NTUC LearningHub Associate Data Analyst Course (Cohort 36)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4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Exploratory Analysis — Key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82880"/>
            <a:ext cx="1645920" cy="7315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/>
              <a:t>LOGO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12121"/>
                </a:solidFill>
              </a:rPr>
              <a:t>Diagnostics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3035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12121"/>
                </a:solidFill>
              </a:rPr>
              <a:t>Highlights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Channel trend; Territory leaderboard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Top categories; Promo vs Non-Promo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Repeat purchase distribution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Retail &amp; D2C stable; promo uplift ~15–20%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3017520"/>
          </a:xfrm>
          <a:prstGeom prst="rect">
            <a:avLst/>
          </a:prstGeom>
          <a:solidFill>
            <a:srgbClr val="FFFFFF"/>
          </a:solidFill>
          <a:ln>
            <a:solidFill>
              <a:srgbClr val="E4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787878"/>
                </a:solidFill>
              </a:rPr>
              <a:t>Insert EDA charts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12121"/>
                </a:solidFill>
              </a:rPr>
              <a:t>Prepared by Derrick Wong | Graduate NTUC LearningHub Associate Data Analyst Course (Cohort 36)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4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Predictive Modeling — Forecasting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82880"/>
            <a:ext cx="1645920" cy="7315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/>
              <a:t>LOGO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12121"/>
                </a:solidFill>
              </a:rPr>
              <a:t>ARIMA/Prophet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0642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12121"/>
                </a:solidFill>
              </a:rPr>
              <a:t>Approach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Per-channel weekly forecasts for next 8 weeks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Helps inventory &amp; promo planning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49039"/>
            <a:ext cx="111556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4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787878"/>
                </a:solidFill>
              </a:rPr>
              <a:t>Insert Forecast Plot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12121"/>
                </a:solidFill>
              </a:rPr>
              <a:t>Prepared by Derrick Wong | Graduate NTUC LearningHub Associate Data Analyst Course (Cohort 36)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4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Segmentation &amp; Promo Response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82880"/>
            <a:ext cx="1645920" cy="7315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/>
              <a:t>LOGO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12121"/>
                </a:solidFill>
              </a:rPr>
              <a:t>K-Means &amp; 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0642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12121"/>
                </a:solidFill>
              </a:rPr>
              <a:t>Models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K-Means: Orders/Revenue/AOV clusters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LogReg: Promo vs Non-Promo drivers; confusion matrix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49039"/>
            <a:ext cx="530352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4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787878"/>
                </a:solidFill>
              </a:rPr>
              <a:t>Insert Cluster Scatter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3749039"/>
            <a:ext cx="530352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4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787878"/>
                </a:solidFill>
              </a:rPr>
              <a:t>Insert Confusion Matrix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12121"/>
                </a:solidFill>
              </a:rPr>
              <a:t>Prepared by Derrick Wong | Graduate NTUC LearningHub Associate Data Analyst Course (Cohort 36)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4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Power BI — Executive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82880"/>
            <a:ext cx="1645920" cy="7315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/>
              <a:t>LOGO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12121"/>
                </a:solidFill>
              </a:rPr>
              <a:t>KPIs &amp; filters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3035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12121"/>
                </a:solidFill>
              </a:rPr>
              <a:t>Design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KPI cards: Revenue, AOV, Repeat %, Promo Uplift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Filters: Date, Channel, Territory, Category, Promo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3017520"/>
          </a:xfrm>
          <a:prstGeom prst="rect">
            <a:avLst/>
          </a:prstGeom>
          <a:solidFill>
            <a:srgbClr val="FFFFFF"/>
          </a:solidFill>
          <a:ln>
            <a:solidFill>
              <a:srgbClr val="E4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787878"/>
                </a:solidFill>
              </a:rPr>
              <a:t>Insert PBIX Overview Screenshot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12121"/>
                </a:solidFill>
              </a:rPr>
              <a:t>Prepared by Derrick Wong | Graduate NTUC LearningHub Associate Data Analyst Course (Cohort 36)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4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Channel &amp; Territory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82880"/>
            <a:ext cx="1645920" cy="7315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/>
              <a:t>LOGO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12121"/>
                </a:solidFill>
              </a:rPr>
              <a:t>Allocation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3035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12121"/>
                </a:solidFill>
              </a:rPr>
              <a:t>Story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Revenue by channel + mix %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Territory leaderboard &amp; AOV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Re-allocate spend by ROI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3017520"/>
          </a:xfrm>
          <a:prstGeom prst="rect">
            <a:avLst/>
          </a:prstGeom>
          <a:solidFill>
            <a:srgbClr val="FFFFFF"/>
          </a:solidFill>
          <a:ln>
            <a:solidFill>
              <a:srgbClr val="E4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787878"/>
                </a:solidFill>
              </a:rPr>
              <a:t>Insert Channel/Territory visuals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12121"/>
                </a:solidFill>
              </a:rPr>
              <a:t>Prepared by Derrick Wong | Graduate NTUC LearningHub Associate Data Analyst Course (Cohort 36) 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4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Product &amp; Promotion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82880"/>
            <a:ext cx="1645920" cy="7315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/>
              <a:t>LOGO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12121"/>
                </a:solidFill>
              </a:rPr>
              <a:t>Promo ROI &amp;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3035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12121"/>
                </a:solidFill>
              </a:rPr>
              <a:t>Story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Top 10 categories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Promo vs Non-Promo Avg Order Revenue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Timing of promos vs sales peaks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3017520"/>
          </a:xfrm>
          <a:prstGeom prst="rect">
            <a:avLst/>
          </a:prstGeom>
          <a:solidFill>
            <a:srgbClr val="FFFFFF"/>
          </a:solidFill>
          <a:ln>
            <a:solidFill>
              <a:srgbClr val="E4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787878"/>
                </a:solidFill>
              </a:rPr>
              <a:t>Insert Product/Promo visuals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12121"/>
                </a:solidFill>
              </a:rPr>
              <a:t>Prepared by Derrick Wong | Graduate NTUC LearningHub Associate Data Analyst Course (Cohort 36) 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4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Customer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82880"/>
            <a:ext cx="1645920" cy="7315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/>
              <a:t>LOGO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12121"/>
                </a:solidFill>
              </a:rPr>
              <a:t>Retention &amp; loyalty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3035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12121"/>
                </a:solidFill>
              </a:rPr>
              <a:t>Story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Orders vs Revenue (size=AOV)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Repeat rate ≈ 35% — loyalty upside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Personalized bundles; D2C retention flows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3017520"/>
          </a:xfrm>
          <a:prstGeom prst="rect">
            <a:avLst/>
          </a:prstGeom>
          <a:solidFill>
            <a:srgbClr val="FFFFFF"/>
          </a:solidFill>
          <a:ln>
            <a:solidFill>
              <a:srgbClr val="E4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787878"/>
                </a:solidFill>
              </a:rPr>
              <a:t>Insert Customer visuals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12121"/>
                </a:solidFill>
              </a:rPr>
              <a:t>Prepared by Derrick Wong | Graduate NTUC LearningHub Associate Data Analyst Course (Cohort 36) 2025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4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Insights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82880"/>
            <a:ext cx="1645920" cy="7315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/>
              <a:t>LOGO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12121"/>
                </a:solidFill>
              </a:rPr>
              <a:t>What matters most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0642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12121"/>
                </a:solidFill>
              </a:rPr>
              <a:t>Highlights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Retail &amp; D2C stability → inventory scaling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Targeted promos lift ≈ 15–20% without margin erosion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East/North volume; West AOV efficiency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35% repeat buyers → loyalty program opportunity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12121"/>
                </a:solidFill>
              </a:rPr>
              <a:t>Prepared by Derrick Wong | Graduate NTUC LearningHub Associate Data Analyst Course (Cohort 36) 2025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4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Quick Wins by Channel/Territory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82880"/>
            <a:ext cx="1645920" cy="7315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/>
              <a:t>LOGO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12121"/>
                </a:solidFill>
              </a:rPr>
              <a:t>Execute in 30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0642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12121"/>
                </a:solidFill>
              </a:rPr>
              <a:t>Playbook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Retail: prioritize high-velocity SKUs; ensure on-shelf availability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D2C: bundle SKUs for repeat buyers; remarketing flows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Shopee/Lazada: promo slots aligned with forecast peaks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Territory: focus on West for premium AOV; defend East volume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12121"/>
                </a:solidFill>
              </a:rPr>
              <a:t>Prepared by Derrick Wong | Graduate NTUC LearningHub Associate Data Analyst Course (Cohort 36) 2025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4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Automation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82880"/>
            <a:ext cx="1645920" cy="7315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/>
              <a:t>LOGO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12121"/>
                </a:solidFill>
              </a:rPr>
              <a:t>From data to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0642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12121"/>
                </a:solidFill>
              </a:rPr>
              <a:t>Plan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Automate refresh (Power BI Gateway / Python scripts)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CRM: trigger promo offers for high-propensity clusters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Next: MMM-lite, LTV models, territory testing cadence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12121"/>
                </a:solidFill>
              </a:rPr>
              <a:t>Prepared by Derrick Wong | Graduate NTUC LearningHub Associate Data Analyst Course (Cohort 36) 2025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4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Thank You — Q&amp;A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82880"/>
            <a:ext cx="1645920" cy="7315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/>
              <a:t>LOGO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12121"/>
                </a:solidFill>
              </a:rPr>
              <a:t>Contact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0642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Derrick Wong | Singapore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GitHub: github.com/daddylaughing/omnichannel-growth-engine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LinkedIn: (add your link)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12121"/>
                </a:solidFill>
              </a:rPr>
              <a:t>Prepared by Derrick Wong | Graduate NTUC LearningHub Associate Data Analyst Course (Cohort 36)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